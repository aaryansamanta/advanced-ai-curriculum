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7fe28f08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7fe28f08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7fe28f08a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7fe28f08a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7fe28f08a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7fe28f08a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7fe28f08a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7fe28f08a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7fe28f08a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7fe28f08a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7fe28f08a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7fe28f08a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7fe28f08ad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7fe28f08ad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insight.kellogg.northwestern.edu/article/will-ai-replace-doctors" TargetMode="External"/><Relationship Id="rId4" Type="http://schemas.openxmlformats.org/officeDocument/2006/relationships/hyperlink" Target="https://www.ncbi.nlm.nih.gov/pmc/articles/PMC10328041/" TargetMode="External"/><Relationship Id="rId5" Type="http://schemas.openxmlformats.org/officeDocument/2006/relationships/hyperlink" Target="https://www.indiatoday.in/health/story/in-worlds-first-ai-robot-performs-complete-dental-procedure-boston-man-2579007-2024-08-08" TargetMode="External"/><Relationship Id="rId6" Type="http://schemas.openxmlformats.org/officeDocument/2006/relationships/hyperlink" Target="https://www.independent.co.uk/news/world/americas/robot-dental-surgery-ai-perceptive-b2591701.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AI in Medical Technology</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Aaryan Samanta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0" y="464375"/>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AI is replacing Human Doctors</a:t>
            </a:r>
            <a:endParaRPr/>
          </a:p>
        </p:txBody>
      </p:sp>
      <p:sp>
        <p:nvSpPr>
          <p:cNvPr id="61" name="Google Shape;61;p14"/>
          <p:cNvSpPr txBox="1"/>
          <p:nvPr>
            <p:ph idx="1" type="body"/>
          </p:nvPr>
        </p:nvSpPr>
        <p:spPr>
          <a:xfrm>
            <a:off x="238125" y="1122600"/>
            <a:ext cx="5601600" cy="3696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next time you go to the dentist to get your teeth checked would you want to see a friendly doctor happy to check for cavities, or have a menacingly looking machine, that looks like it might kill you.</a:t>
            </a:r>
            <a:endParaRPr/>
          </a:p>
          <a:p>
            <a:pPr indent="0" lvl="0" marL="0" rtl="0" algn="l">
              <a:spcBef>
                <a:spcPts val="1200"/>
              </a:spcBef>
              <a:spcAft>
                <a:spcPts val="0"/>
              </a:spcAft>
              <a:buNone/>
            </a:pPr>
            <a:r>
              <a:rPr lang="en"/>
              <a:t>-The machine may not be all that bad. </a:t>
            </a:r>
            <a:r>
              <a:rPr lang="en"/>
              <a:t>Artificial intelligence (AI) has many features that could put them above doctors, in addition to being smarter than them. </a:t>
            </a:r>
            <a:endParaRPr/>
          </a:p>
          <a:p>
            <a:pPr indent="0" lvl="0" marL="0" rtl="0" algn="l">
              <a:spcBef>
                <a:spcPts val="1200"/>
              </a:spcBef>
              <a:spcAft>
                <a:spcPts val="0"/>
              </a:spcAft>
              <a:buClr>
                <a:schemeClr val="dk1"/>
              </a:buClr>
              <a:buSzPts val="1100"/>
              <a:buFont typeface="Arial"/>
              <a:buNone/>
            </a:pPr>
            <a:r>
              <a:rPr lang="en"/>
              <a:t>-However, there are some key things that AI lacks, which could potentially be </a:t>
            </a:r>
            <a:r>
              <a:rPr lang="en"/>
              <a:t>dangerous</a:t>
            </a:r>
            <a:r>
              <a:rPr lang="en"/>
              <a:t>.</a:t>
            </a:r>
            <a:endParaRPr/>
          </a:p>
          <a:p>
            <a:pPr indent="0" lvl="0" marL="0" rtl="0" algn="l">
              <a:spcBef>
                <a:spcPts val="1200"/>
              </a:spcBef>
              <a:spcAft>
                <a:spcPts val="1200"/>
              </a:spcAft>
              <a:buNone/>
            </a:pPr>
            <a:r>
              <a:t/>
            </a:r>
            <a:endParaRPr/>
          </a:p>
        </p:txBody>
      </p:sp>
      <p:pic>
        <p:nvPicPr>
          <p:cNvPr id="62" name="Google Shape;62;p14"/>
          <p:cNvPicPr preferRelativeResize="0"/>
          <p:nvPr/>
        </p:nvPicPr>
        <p:blipFill>
          <a:blip r:embed="rId3">
            <a:alphaModFix/>
          </a:blip>
          <a:stretch>
            <a:fillRect/>
          </a:stretch>
        </p:blipFill>
        <p:spPr>
          <a:xfrm>
            <a:off x="6108750" y="994600"/>
            <a:ext cx="2397125" cy="2005763"/>
          </a:xfrm>
          <a:prstGeom prst="rect">
            <a:avLst/>
          </a:prstGeom>
          <a:noFill/>
          <a:ln>
            <a:noFill/>
          </a:ln>
        </p:spPr>
      </p:pic>
      <p:pic>
        <p:nvPicPr>
          <p:cNvPr id="63" name="Google Shape;63;p14"/>
          <p:cNvPicPr preferRelativeResize="0"/>
          <p:nvPr/>
        </p:nvPicPr>
        <p:blipFill>
          <a:blip r:embed="rId4">
            <a:alphaModFix/>
          </a:blip>
          <a:stretch>
            <a:fillRect/>
          </a:stretch>
        </p:blipFill>
        <p:spPr>
          <a:xfrm>
            <a:off x="6283363" y="3000363"/>
            <a:ext cx="2143125" cy="2143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Positives of AI replacing human doctors</a:t>
            </a:r>
            <a:endParaRPr/>
          </a:p>
        </p:txBody>
      </p:sp>
      <p:sp>
        <p:nvSpPr>
          <p:cNvPr id="69" name="Google Shape;69;p15"/>
          <p:cNvSpPr txBox="1"/>
          <p:nvPr>
            <p:ph idx="1" type="body"/>
          </p:nvPr>
        </p:nvSpPr>
        <p:spPr>
          <a:xfrm>
            <a:off x="0" y="1122700"/>
            <a:ext cx="6102000" cy="4066500"/>
          </a:xfrm>
          <a:prstGeom prst="rect">
            <a:avLst/>
          </a:prstGeom>
        </p:spPr>
        <p:txBody>
          <a:bodyPr anchorCtr="0" anchor="t" bIns="91425" lIns="91425" spcFirstLastPara="1" rIns="91425" wrap="square" tIns="91425">
            <a:normAutofit fontScale="85000" lnSpcReduction="10000"/>
          </a:bodyPr>
          <a:lstStyle/>
          <a:p>
            <a:pPr indent="-228600" lvl="0" marL="457200" rtl="0" algn="l">
              <a:spcBef>
                <a:spcPts val="0"/>
              </a:spcBef>
              <a:spcAft>
                <a:spcPts val="0"/>
              </a:spcAft>
              <a:buSzPct val="100000"/>
              <a:buNone/>
            </a:pPr>
            <a:r>
              <a:t/>
            </a:r>
            <a:endParaRPr/>
          </a:p>
          <a:p>
            <a:pPr indent="-228600" lvl="0" marL="457200" rtl="0" algn="l">
              <a:spcBef>
                <a:spcPts val="0"/>
              </a:spcBef>
              <a:spcAft>
                <a:spcPts val="0"/>
              </a:spcAft>
              <a:buSzPct val="100000"/>
              <a:buNone/>
            </a:pPr>
            <a:r>
              <a:rPr lang="en"/>
              <a:t>-AI can make correct diagnoses in 97% of patients, compared to 87% for human doctors. It can also perform comparably to or exceed cardiologist clinical diagnoses, and outperform primary care physicians when assessing the severity of Parkinson's disease.</a:t>
            </a:r>
            <a:endParaRPr/>
          </a:p>
          <a:p>
            <a:pPr indent="-228600" lvl="0" marL="457200" rtl="0" algn="l">
              <a:spcBef>
                <a:spcPts val="0"/>
              </a:spcBef>
              <a:spcAft>
                <a:spcPts val="0"/>
              </a:spcAft>
              <a:buSzPct val="100000"/>
              <a:buNone/>
            </a:pPr>
            <a:r>
              <a:rPr lang="en"/>
              <a:t>-AI can analyze a patient's genetic makeup, medical history, and real-time health data to generate individualized treatment plans. This could lead to more effective therapies, fewer side effects, and better patient outcomes.</a:t>
            </a:r>
            <a:endParaRPr/>
          </a:p>
          <a:p>
            <a:pPr indent="-228600" lvl="0" marL="457200" rtl="0" algn="l">
              <a:spcBef>
                <a:spcPts val="0"/>
              </a:spcBef>
              <a:spcAft>
                <a:spcPts val="0"/>
              </a:spcAft>
              <a:buSzPct val="100000"/>
              <a:buNone/>
            </a:pPr>
            <a:r>
              <a:rPr lang="en"/>
              <a:t>-On top of everything, AI is also much cheaper than doctors, benefitting hospitals in rural areas or underdeveloped countries.</a:t>
            </a:r>
            <a:endParaRPr/>
          </a:p>
          <a:p>
            <a:pPr indent="-228600" lvl="0" marL="457200" rtl="0" algn="l">
              <a:spcBef>
                <a:spcPts val="0"/>
              </a:spcBef>
              <a:spcAft>
                <a:spcPts val="0"/>
              </a:spcAft>
              <a:buSzPct val="100000"/>
              <a:buNone/>
            </a:pPr>
            <a:r>
              <a:rPr lang="en"/>
              <a:t>-With all these positives, AI seems perfect right? </a:t>
            </a:r>
            <a:endParaRPr/>
          </a:p>
          <a:p>
            <a:pPr indent="0" lvl="0" marL="0" rtl="0" algn="l">
              <a:spcBef>
                <a:spcPts val="1200"/>
              </a:spcBef>
              <a:spcAft>
                <a:spcPts val="1200"/>
              </a:spcAft>
              <a:buNone/>
            </a:pPr>
            <a:r>
              <a:t/>
            </a:r>
            <a:endParaRPr/>
          </a:p>
        </p:txBody>
      </p:sp>
      <p:pic>
        <p:nvPicPr>
          <p:cNvPr id="70" name="Google Shape;70;p15"/>
          <p:cNvPicPr preferRelativeResize="0"/>
          <p:nvPr/>
        </p:nvPicPr>
        <p:blipFill>
          <a:blip r:embed="rId3">
            <a:alphaModFix/>
          </a:blip>
          <a:stretch>
            <a:fillRect/>
          </a:stretch>
        </p:blipFill>
        <p:spPr>
          <a:xfrm>
            <a:off x="6102000" y="1358650"/>
            <a:ext cx="2238725" cy="2107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Negatives of AI replacing human doctors</a:t>
            </a:r>
            <a:endParaRPr/>
          </a:p>
        </p:txBody>
      </p:sp>
      <p:sp>
        <p:nvSpPr>
          <p:cNvPr id="76" name="Google Shape;76;p16"/>
          <p:cNvSpPr txBox="1"/>
          <p:nvPr>
            <p:ph idx="1" type="body"/>
          </p:nvPr>
        </p:nvSpPr>
        <p:spPr>
          <a:xfrm>
            <a:off x="311700" y="1152475"/>
            <a:ext cx="6504600" cy="3630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-There are also reasons why some say that AI shouldn't replace doctors</a:t>
            </a:r>
            <a:endParaRPr/>
          </a:p>
          <a:p>
            <a:pPr indent="0" lvl="0" marL="0" rtl="0" algn="l">
              <a:spcBef>
                <a:spcPts val="1200"/>
              </a:spcBef>
              <a:spcAft>
                <a:spcPts val="0"/>
              </a:spcAft>
              <a:buNone/>
            </a:pPr>
            <a:r>
              <a:rPr lang="en"/>
              <a:t>-AI lacks the human qualities that help doctors build trust with patients, such as empathy, compassion, and emotional intelligence, leading many to question whether it’s morally correct for AI to replace doctors completely. </a:t>
            </a:r>
            <a:endParaRPr/>
          </a:p>
          <a:p>
            <a:pPr indent="0" lvl="0" marL="0" rtl="0" algn="l">
              <a:spcBef>
                <a:spcPts val="1200"/>
              </a:spcBef>
              <a:spcAft>
                <a:spcPts val="0"/>
              </a:spcAft>
              <a:buNone/>
            </a:pPr>
            <a:r>
              <a:rPr lang="en"/>
              <a:t>-Patients want to know their doctor understands their perspective and has the knowledge and training to help them.</a:t>
            </a:r>
            <a:endParaRPr/>
          </a:p>
          <a:p>
            <a:pPr indent="0" lvl="0" marL="0" rtl="0" algn="l">
              <a:spcBef>
                <a:spcPts val="1200"/>
              </a:spcBef>
              <a:spcAft>
                <a:spcPts val="1200"/>
              </a:spcAft>
              <a:buNone/>
            </a:pPr>
            <a:r>
              <a:rPr lang="en"/>
              <a:t>-Computers can't use the intuitive reasoning that doctors use to evaluate information from multiple sources to make a diagnosis and create a treatment plan.</a:t>
            </a:r>
            <a:endParaRPr/>
          </a:p>
        </p:txBody>
      </p:sp>
      <p:pic>
        <p:nvPicPr>
          <p:cNvPr id="77" name="Google Shape;77;p16"/>
          <p:cNvPicPr preferRelativeResize="0"/>
          <p:nvPr/>
        </p:nvPicPr>
        <p:blipFill>
          <a:blip r:embed="rId3">
            <a:alphaModFix/>
          </a:blip>
          <a:stretch>
            <a:fillRect/>
          </a:stretch>
        </p:blipFill>
        <p:spPr>
          <a:xfrm>
            <a:off x="6938925" y="1269350"/>
            <a:ext cx="2022900" cy="2022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Examples of AI being used in Medical Field</a:t>
            </a:r>
            <a:endParaRPr/>
          </a:p>
        </p:txBody>
      </p:sp>
      <p:sp>
        <p:nvSpPr>
          <p:cNvPr id="83" name="Google Shape;83;p17"/>
          <p:cNvSpPr txBox="1"/>
          <p:nvPr>
            <p:ph idx="1" type="body"/>
          </p:nvPr>
        </p:nvSpPr>
        <p:spPr>
          <a:xfrm>
            <a:off x="192625" y="1152475"/>
            <a:ext cx="63657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-Very recently, a procedure involving AI for a dental surgery was completed</a:t>
            </a:r>
            <a:endParaRPr/>
          </a:p>
          <a:p>
            <a:pPr indent="0" lvl="0" marL="0" rtl="0" algn="l">
              <a:spcBef>
                <a:spcPts val="1200"/>
              </a:spcBef>
              <a:spcAft>
                <a:spcPts val="0"/>
              </a:spcAft>
              <a:buNone/>
            </a:pPr>
            <a:r>
              <a:rPr lang="en"/>
              <a:t>-T</a:t>
            </a:r>
            <a:r>
              <a:rPr lang="en"/>
              <a:t>his dental robot, made by Boston-based company Perceptive, is guided by AI with 3D imaging software and operates a robotic arm to perform dental tasks.</a:t>
            </a:r>
            <a:endParaRPr/>
          </a:p>
          <a:p>
            <a:pPr indent="0" lvl="0" marL="0" rtl="0" algn="l">
              <a:spcBef>
                <a:spcPts val="1200"/>
              </a:spcBef>
              <a:spcAft>
                <a:spcPts val="0"/>
              </a:spcAft>
              <a:buNone/>
            </a:pPr>
            <a:r>
              <a:rPr lang="en"/>
              <a:t>-The system can complete restorative dental work, like crown replacements, in just 15 minutes, which is much faster than any human can possibly do</a:t>
            </a:r>
            <a:endParaRPr/>
          </a:p>
          <a:p>
            <a:pPr indent="0" lvl="0" marL="0" rtl="0" algn="l">
              <a:spcBef>
                <a:spcPts val="1200"/>
              </a:spcBef>
              <a:spcAft>
                <a:spcPts val="1200"/>
              </a:spcAft>
              <a:buNone/>
            </a:pPr>
            <a:r>
              <a:rPr lang="en"/>
              <a:t>-The surgery was completed successfully with no errors at all</a:t>
            </a:r>
            <a:endParaRPr/>
          </a:p>
        </p:txBody>
      </p:sp>
      <p:pic>
        <p:nvPicPr>
          <p:cNvPr id="84" name="Google Shape;84;p17"/>
          <p:cNvPicPr preferRelativeResize="0"/>
          <p:nvPr/>
        </p:nvPicPr>
        <p:blipFill>
          <a:blip r:embed="rId3">
            <a:alphaModFix/>
          </a:blip>
          <a:stretch>
            <a:fillRect/>
          </a:stretch>
        </p:blipFill>
        <p:spPr>
          <a:xfrm>
            <a:off x="6467088" y="1313250"/>
            <a:ext cx="2619375" cy="1743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My opinion</a:t>
            </a:r>
            <a:endParaRPr/>
          </a:p>
          <a:p>
            <a:pPr indent="0" lvl="0" marL="0" rtl="0" algn="l">
              <a:spcBef>
                <a:spcPts val="0"/>
              </a:spcBef>
              <a:spcAft>
                <a:spcPts val="0"/>
              </a:spcAft>
              <a:buNone/>
            </a:pPr>
            <a:r>
              <a:t/>
            </a:r>
            <a:endParaRPr/>
          </a:p>
        </p:txBody>
      </p:sp>
      <p:sp>
        <p:nvSpPr>
          <p:cNvPr id="90" name="Google Shape;90;p18"/>
          <p:cNvSpPr txBox="1"/>
          <p:nvPr>
            <p:ph idx="1" type="body"/>
          </p:nvPr>
        </p:nvSpPr>
        <p:spPr>
          <a:xfrm>
            <a:off x="311700" y="1170125"/>
            <a:ext cx="6296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should be </a:t>
            </a:r>
            <a:r>
              <a:rPr lang="en"/>
              <a:t>instituted</a:t>
            </a:r>
            <a:r>
              <a:rPr lang="en"/>
              <a:t> in the medical industry, but shouldn’t replace doctors completely</a:t>
            </a:r>
            <a:endParaRPr/>
          </a:p>
          <a:p>
            <a:pPr indent="0" lvl="0" marL="0" rtl="0" algn="l">
              <a:spcBef>
                <a:spcPts val="1200"/>
              </a:spcBef>
              <a:spcAft>
                <a:spcPts val="0"/>
              </a:spcAft>
              <a:buNone/>
            </a:pPr>
            <a:r>
              <a:rPr lang="en"/>
              <a:t>-AI machines should have doctors </a:t>
            </a:r>
            <a:r>
              <a:rPr lang="en"/>
              <a:t>close by</a:t>
            </a:r>
            <a:r>
              <a:rPr lang="en"/>
              <a:t> watching, ready to stop the machine if anything goes wrong</a:t>
            </a:r>
            <a:endParaRPr/>
          </a:p>
          <a:p>
            <a:pPr indent="0" lvl="0" marL="0" rtl="0" algn="l">
              <a:spcBef>
                <a:spcPts val="1200"/>
              </a:spcBef>
              <a:spcAft>
                <a:spcPts val="0"/>
              </a:spcAft>
              <a:buNone/>
            </a:pPr>
            <a:r>
              <a:rPr lang="en"/>
              <a:t>-Doctors should still do some procedures that AI is unable to do</a:t>
            </a:r>
            <a:endParaRPr/>
          </a:p>
          <a:p>
            <a:pPr indent="0" lvl="0" marL="0" rtl="0" algn="l">
              <a:spcBef>
                <a:spcPts val="1200"/>
              </a:spcBef>
              <a:spcAft>
                <a:spcPts val="1200"/>
              </a:spcAft>
              <a:buNone/>
            </a:pPr>
            <a:r>
              <a:rPr lang="en"/>
              <a:t>-Patients should have the right to choose whether they want an AI to treat them, or a doctor to treat them</a:t>
            </a:r>
            <a:endParaRPr/>
          </a:p>
        </p:txBody>
      </p:sp>
      <p:pic>
        <p:nvPicPr>
          <p:cNvPr id="91" name="Google Shape;91;p18"/>
          <p:cNvPicPr preferRelativeResize="0"/>
          <p:nvPr/>
        </p:nvPicPr>
        <p:blipFill>
          <a:blip r:embed="rId3">
            <a:alphaModFix/>
          </a:blip>
          <a:stretch>
            <a:fillRect/>
          </a:stretch>
        </p:blipFill>
        <p:spPr>
          <a:xfrm>
            <a:off x="6760500" y="1170125"/>
            <a:ext cx="2231100" cy="167117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97" name="Google Shape;97;p19"/>
          <p:cNvSpPr txBox="1"/>
          <p:nvPr>
            <p:ph idx="1" type="body"/>
          </p:nvPr>
        </p:nvSpPr>
        <p:spPr>
          <a:xfrm>
            <a:off x="311700" y="1152475"/>
            <a:ext cx="6068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can never completely replace humans, no matter what it is.</a:t>
            </a:r>
            <a:endParaRPr/>
          </a:p>
          <a:p>
            <a:pPr indent="0" lvl="0" marL="0" rtl="0" algn="l">
              <a:spcBef>
                <a:spcPts val="1200"/>
              </a:spcBef>
              <a:spcAft>
                <a:spcPts val="0"/>
              </a:spcAft>
              <a:buNone/>
            </a:pPr>
            <a:r>
              <a:rPr lang="en"/>
              <a:t>-We still shouldn’t ignore the existence of AI, but instead take advantage of </a:t>
            </a:r>
            <a:r>
              <a:rPr lang="en"/>
              <a:t>its</a:t>
            </a:r>
            <a:r>
              <a:rPr lang="en"/>
              <a:t> many uses, especially in the medical field</a:t>
            </a:r>
            <a:endParaRPr/>
          </a:p>
          <a:p>
            <a:pPr indent="0" lvl="0" marL="0" rtl="0" algn="l">
              <a:spcBef>
                <a:spcPts val="1200"/>
              </a:spcBef>
              <a:spcAft>
                <a:spcPts val="1200"/>
              </a:spcAft>
              <a:buNone/>
            </a:pPr>
            <a:r>
              <a:rPr lang="en"/>
              <a:t>-When playing all the right cards, AI can be seen as an opportunity to grow and develop, rather than something to be feared and resented</a:t>
            </a:r>
            <a:endParaRPr/>
          </a:p>
        </p:txBody>
      </p:sp>
      <p:pic>
        <p:nvPicPr>
          <p:cNvPr id="98" name="Google Shape;98;p19"/>
          <p:cNvPicPr preferRelativeResize="0"/>
          <p:nvPr/>
        </p:nvPicPr>
        <p:blipFill>
          <a:blip r:embed="rId3">
            <a:alphaModFix/>
          </a:blip>
          <a:stretch>
            <a:fillRect/>
          </a:stretch>
        </p:blipFill>
        <p:spPr>
          <a:xfrm>
            <a:off x="6532200" y="1170125"/>
            <a:ext cx="2459400" cy="17567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Works Cited</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u="sng">
                <a:solidFill>
                  <a:schemeClr val="hlink"/>
                </a:solidFill>
                <a:hlinkClick r:id="rId3"/>
              </a:rPr>
              <a:t>https://insight.kellogg.northwestern.edu/article/will-ai-replace-doctors</a:t>
            </a:r>
            <a:r>
              <a:rPr lang="en"/>
              <a:t> </a:t>
            </a:r>
            <a:endParaRPr/>
          </a:p>
          <a:p>
            <a:pPr indent="0" lvl="0" marL="0" rtl="0" algn="l">
              <a:spcBef>
                <a:spcPts val="1200"/>
              </a:spcBef>
              <a:spcAft>
                <a:spcPts val="0"/>
              </a:spcAft>
              <a:buNone/>
            </a:pPr>
            <a:r>
              <a:rPr lang="en" u="sng">
                <a:solidFill>
                  <a:schemeClr val="hlink"/>
                </a:solidFill>
                <a:hlinkClick r:id="rId4"/>
              </a:rPr>
              <a:t>https://www.ncbi.nlm.nih.gov/pmc/articles/PMC10328041/</a:t>
            </a:r>
            <a:r>
              <a:rPr lang="en"/>
              <a:t> </a:t>
            </a:r>
            <a:endParaRPr/>
          </a:p>
          <a:p>
            <a:pPr indent="0" lvl="0" marL="0" rtl="0" algn="l">
              <a:spcBef>
                <a:spcPts val="1200"/>
              </a:spcBef>
              <a:spcAft>
                <a:spcPts val="0"/>
              </a:spcAft>
              <a:buNone/>
            </a:pPr>
            <a:r>
              <a:rPr lang="en" u="sng">
                <a:solidFill>
                  <a:schemeClr val="hlink"/>
                </a:solidFill>
                <a:hlinkClick r:id="rId5"/>
              </a:rPr>
              <a:t>https://www.indiatoday.in/health/story/in-worlds-first-ai-robot-performs-complete-dental-procedure-boston-man-2579007-2024-08-08</a:t>
            </a:r>
            <a:r>
              <a:rPr lang="en"/>
              <a:t> </a:t>
            </a:r>
            <a:endParaRPr/>
          </a:p>
          <a:p>
            <a:pPr indent="0" lvl="0" marL="0" rtl="0" algn="l">
              <a:spcBef>
                <a:spcPts val="1200"/>
              </a:spcBef>
              <a:spcAft>
                <a:spcPts val="0"/>
              </a:spcAft>
              <a:buNone/>
            </a:pPr>
            <a:r>
              <a:rPr lang="en" u="sng">
                <a:solidFill>
                  <a:schemeClr val="hlink"/>
                </a:solidFill>
                <a:hlinkClick r:id="rId6"/>
              </a:rPr>
              <a:t>https://www.independent.co.uk/news/world/americas/robot-dental-surgery-ai-perceptive-b2591701.html</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